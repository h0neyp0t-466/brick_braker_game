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59" r:id="rId6"/>
    <p:sldId id="269" r:id="rId7"/>
    <p:sldId id="271" r:id="rId8"/>
    <p:sldId id="270" r:id="rId9"/>
    <p:sldId id="272" r:id="rId10"/>
  </p:sldIdLst>
  <p:sldSz cx="14630400" cy="8229600"/>
  <p:notesSz cx="8229600" cy="14630400"/>
  <p:embeddedFontLst>
    <p:embeddedFont>
      <p:font typeface="Tomorrow" panose="020B0604020202020204" charset="0"/>
      <p:regular r:id="rId12"/>
    </p:embeddedFont>
    <p:embeddedFont>
      <p:font typeface="Tomorrow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DEDE8"/>
    <a:srgbClr val="3C3C3A"/>
    <a:srgbClr val="1D1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14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A53C7-2827-4A14-A2F5-643F3297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FB67E-719E-AF1A-A26B-69F0A4F25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190AA-B428-E4E5-CCC0-F146E916B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7A846-ECD7-403F-E2BB-AC55FA045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3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7F53-DE8B-B5E3-57D3-8FE1ACD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0F356-6C4F-7D1B-6CA0-FBD2D5345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7D0F5-7C98-8198-B138-00278B77E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DD92B-B5D9-8735-4925-D1D1A9D196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92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D8DB-368D-C436-AA5F-7ABD9E9B3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ABF22-E7CB-BB9B-33B0-A06DBEF4E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D97D9-94FC-B33C-3974-57BC1CAF0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FF979-31AE-BB80-62E8-E84794E12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85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46BD-068F-7B97-B881-875FC03E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EE1D8-41E4-79E4-CE3D-CFF874114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D7F11-4C58-E063-4BFA-25A240718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BF4AA-29BA-0621-BB2A-4514D326A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64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27C-C6CB-CC68-2BDC-695AF6EE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F02B5-C19C-01BA-7466-0614DFAC7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6D502-9B34-9DD2-61F4-35E0F6881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80257-1A6C-E4F0-D8BF-2984D0FEA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6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81275" y="149062"/>
            <a:ext cx="9915525" cy="86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Brick Breaker Game - Game Overview</a:t>
            </a:r>
            <a:endParaRPr lang="en-US" sz="4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13FCF9-7E5F-4550-DBC7-59CC7B0EA0EF}"/>
              </a:ext>
            </a:extLst>
          </p:cNvPr>
          <p:cNvSpPr/>
          <p:nvPr/>
        </p:nvSpPr>
        <p:spPr>
          <a:xfrm>
            <a:off x="12811026" y="7645138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group&#10;&#10;Description automatically generated">
            <a:extLst>
              <a:ext uri="{FF2B5EF4-FFF2-40B4-BE49-F238E27FC236}">
                <a16:creationId xmlns:a16="http://schemas.microsoft.com/office/drawing/2014/main" id="{1A313598-2BBD-B4EF-246C-DCFBF5725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029" y="5043341"/>
            <a:ext cx="4434103" cy="3457428"/>
          </a:xfrm>
          <a:prstGeom prst="rect">
            <a:avLst/>
          </a:prstGeom>
        </p:spPr>
      </p:pic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9233A742-26EE-407E-DDA0-E4DB74123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809625"/>
            <a:ext cx="9220200" cy="7911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C31FDDA4-7DE2-A533-4FEC-E7F3542C1813}"/>
              </a:ext>
            </a:extLst>
          </p:cNvPr>
          <p:cNvSpPr/>
          <p:nvPr/>
        </p:nvSpPr>
        <p:spPr>
          <a:xfrm>
            <a:off x="8001297" y="3173182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E8B5D9E-6DA4-E93F-ECE8-5087BE943D32}"/>
              </a:ext>
            </a:extLst>
          </p:cNvPr>
          <p:cNvSpPr/>
          <p:nvPr/>
        </p:nvSpPr>
        <p:spPr>
          <a:xfrm>
            <a:off x="8001297" y="1149000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337590" y="2544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337590" y="1320667"/>
            <a:ext cx="28677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Keep the ball in play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37590" y="18197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player controls a paddle to keep the ball in play by bouncing it off the bottom edge of the screen.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91423" y="3356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Break bricks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91423" y="39840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By striking bricks with the ball, players aim to break them all and advance to the next level.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2BF850-E998-6305-9F4E-ECA1DBBB407B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F380768-2583-4134-D79F-4D4FC2BF1B9A}"/>
              </a:ext>
            </a:extLst>
          </p:cNvPr>
          <p:cNvSpPr/>
          <p:nvPr/>
        </p:nvSpPr>
        <p:spPr>
          <a:xfrm>
            <a:off x="8001297" y="54619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r>
              <a:rPr lang="en-US" sz="24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Completion Goal</a:t>
            </a:r>
            <a:endParaRPr lang="en-US" sz="2400" dirty="0"/>
          </a:p>
          <a:p>
            <a:endParaRPr lang="en-US" sz="2400" dirty="0">
              <a:solidFill>
                <a:schemeClr val="bg1"/>
              </a:solidFill>
              <a:latin typeface="Tomorrow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25925-F639-B3FD-8041-D5901D9467AB}"/>
              </a:ext>
            </a:extLst>
          </p:cNvPr>
          <p:cNvSpPr txBox="1"/>
          <p:nvPr/>
        </p:nvSpPr>
        <p:spPr>
          <a:xfrm>
            <a:off x="8125307" y="6107944"/>
            <a:ext cx="6114568" cy="800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Complete all 10 challenging levels to finish the game and become the ultimate Brick Breaker champion!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B6E115-AFBF-71A6-58F7-1C7B21EE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70" y="-106692"/>
            <a:ext cx="8342855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3" grpId="0" animBg="1"/>
      <p:bldP spid="4" grpId="0" animBg="1"/>
      <p:bldP spid="5" grpId="0" animBg="1"/>
      <p:bldP spid="6" grpId="0" animBg="1"/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8867C9-6AA8-5AB3-7F6A-025F043F09D2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CCDFB-683D-CA5D-1EC4-230A89BBE53F}"/>
              </a:ext>
            </a:extLst>
          </p:cNvPr>
          <p:cNvSpPr txBox="1"/>
          <p:nvPr/>
        </p:nvSpPr>
        <p:spPr>
          <a:xfrm>
            <a:off x="381000" y="398561"/>
            <a:ext cx="73152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800" dirty="0">
                <a:solidFill>
                  <a:srgbClr val="EDEDE8"/>
                </a:solidFill>
                <a:latin typeface="Tomorrow Semi Bold" pitchFamily="34" charset="0"/>
              </a:rPr>
              <a:t>RULES:</a:t>
            </a:r>
            <a:endParaRPr lang="en-US" sz="48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F6221B9F-D9E9-F5EF-244B-6DCA24393FC1}"/>
              </a:ext>
            </a:extLst>
          </p:cNvPr>
          <p:cNvSpPr/>
          <p:nvPr/>
        </p:nvSpPr>
        <p:spPr>
          <a:xfrm>
            <a:off x="381000" y="1209039"/>
            <a:ext cx="2399907" cy="379006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pPr marL="342900" indent="-342900">
              <a:buAutoNum type="arabicPeriod"/>
            </a:pPr>
            <a:r>
              <a:rPr lang="en-US" sz="2600" dirty="0">
                <a:solidFill>
                  <a:schemeClr val="bg1"/>
                </a:solidFill>
                <a:latin typeface="Tomorrow" panose="020B0604020202020204" charset="0"/>
              </a:rPr>
              <a:t>Control the paddle using arrow keys or 'A' and 'D' keys to move left and right. 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B5CE26BE-78C0-850D-1887-18CC1104C671}"/>
              </a:ext>
            </a:extLst>
          </p:cNvPr>
          <p:cNvSpPr/>
          <p:nvPr/>
        </p:nvSpPr>
        <p:spPr>
          <a:xfrm>
            <a:off x="3195220" y="1209039"/>
            <a:ext cx="2399907" cy="379006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latin typeface="Tomorrow" panose="020B0604020202020204" charset="0"/>
              </a:rPr>
              <a:t>2</a:t>
            </a:r>
            <a:r>
              <a:rPr lang="en-US" sz="3200" dirty="0">
                <a:solidFill>
                  <a:schemeClr val="bg1"/>
                </a:solidFill>
                <a:latin typeface="Tomorrow" panose="020B0604020202020204" charset="0"/>
              </a:rPr>
              <a:t>. Break    bricks by hitting them with the ball</a:t>
            </a:r>
            <a:r>
              <a:rPr lang="en-US" sz="2800" dirty="0">
                <a:solidFill>
                  <a:schemeClr val="bg1"/>
                </a:solidFill>
                <a:latin typeface="Tomorrow" panose="020B0604020202020204" charset="0"/>
              </a:rPr>
              <a:t>. </a:t>
            </a: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6D5C902A-5789-3AF2-F8D9-052FB8A2EDAE}"/>
              </a:ext>
            </a:extLst>
          </p:cNvPr>
          <p:cNvSpPr/>
          <p:nvPr/>
        </p:nvSpPr>
        <p:spPr>
          <a:xfrm>
            <a:off x="6009440" y="1209039"/>
            <a:ext cx="2399907" cy="379006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Tomorrow" panose="020B0604020202020204" charset="0"/>
              </a:rPr>
              <a:t>3. Lose a life if the ball falls below the paddle. </a:t>
            </a: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560E3191-A459-C899-150D-901B768D2911}"/>
              </a:ext>
            </a:extLst>
          </p:cNvPr>
          <p:cNvSpPr/>
          <p:nvPr/>
        </p:nvSpPr>
        <p:spPr>
          <a:xfrm>
            <a:off x="357138" y="5260942"/>
            <a:ext cx="5652302" cy="131213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latin typeface="Tomorrow" panose="020B0604020202020204" charset="0"/>
              </a:rPr>
              <a:t>4. Score points for each brick broken.</a:t>
            </a:r>
            <a:endParaRPr lang="en-US" sz="28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6B149DE-48E9-75EE-1C8A-BD4BB7CBED4D}"/>
              </a:ext>
            </a:extLst>
          </p:cNvPr>
          <p:cNvSpPr/>
          <p:nvPr/>
        </p:nvSpPr>
        <p:spPr>
          <a:xfrm>
            <a:off x="357138" y="6794914"/>
            <a:ext cx="5652303" cy="131213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latin typeface="Tomorrow" panose="020B0604020202020204" charset="0"/>
              </a:rPr>
              <a:t>5. Difficulty increases each level (more rows or more bricks).</a:t>
            </a:r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292E392A-87ED-572A-B02D-3D74A1FF0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347" y="803800"/>
            <a:ext cx="6896100" cy="651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EDF5-CCBB-EC72-988B-C7BA7A49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4AF1BB7-01BD-EA84-5A75-C1699FA83466}"/>
              </a:ext>
            </a:extLst>
          </p:cNvPr>
          <p:cNvSpPr/>
          <p:nvPr/>
        </p:nvSpPr>
        <p:spPr>
          <a:xfrm>
            <a:off x="322450" y="461429"/>
            <a:ext cx="67556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Gameplay Features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90DBBE-BED3-45CF-A55C-5C4D4D3AE228}"/>
              </a:ext>
            </a:extLst>
          </p:cNvPr>
          <p:cNvSpPr/>
          <p:nvPr/>
        </p:nvSpPr>
        <p:spPr>
          <a:xfrm>
            <a:off x="282919" y="1690107"/>
            <a:ext cx="396835" cy="396835"/>
          </a:xfrm>
          <a:prstGeom prst="roundRect">
            <a:avLst>
              <a:gd name="adj" fmla="val 8574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8CA0D75-4FFB-832B-1D2E-1F7945C553CC}"/>
              </a:ext>
            </a:extLst>
          </p:cNvPr>
          <p:cNvSpPr/>
          <p:nvPr/>
        </p:nvSpPr>
        <p:spPr>
          <a:xfrm>
            <a:off x="906568" y="1647602"/>
            <a:ext cx="531512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Multiple Levels with Increasing Difficulty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ts val="275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68BD659-0B55-EF05-279F-C5BE00A657C8}"/>
              </a:ext>
            </a:extLst>
          </p:cNvPr>
          <p:cNvSpPr/>
          <p:nvPr/>
        </p:nvSpPr>
        <p:spPr>
          <a:xfrm>
            <a:off x="906568" y="2086942"/>
            <a:ext cx="5880731" cy="108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Each level presents a new challenge with</a:t>
            </a: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anose="020B0604020202020204" charset="0"/>
              </a:rPr>
              <a:t> increasing the number of brick rows up to a maximum of 9 and </a:t>
            </a: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varying brick patterns.</a:t>
            </a:r>
            <a:endParaRPr lang="en-US" sz="17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5A6CF4-DD97-D38C-978E-DAE97555CF2F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924CDB5-945C-5FDB-297D-3DA6E05825AB}"/>
              </a:ext>
            </a:extLst>
          </p:cNvPr>
          <p:cNvSpPr/>
          <p:nvPr/>
        </p:nvSpPr>
        <p:spPr>
          <a:xfrm>
            <a:off x="282919" y="3360223"/>
            <a:ext cx="396835" cy="396835"/>
          </a:xfrm>
          <a:prstGeom prst="roundRect">
            <a:avLst>
              <a:gd name="adj" fmla="val 8574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D5D5476-5FF3-B9E3-8B35-531A54D714B9}"/>
              </a:ext>
            </a:extLst>
          </p:cNvPr>
          <p:cNvSpPr/>
          <p:nvPr/>
        </p:nvSpPr>
        <p:spPr>
          <a:xfrm>
            <a:off x="906568" y="3360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 Semi Bold" pitchFamily="34" charset="0"/>
              </a:rPr>
              <a:t>Customization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70DF0C6E-57CA-43FC-E161-C70AF0D77E56}"/>
              </a:ext>
            </a:extLst>
          </p:cNvPr>
          <p:cNvSpPr/>
          <p:nvPr/>
        </p:nvSpPr>
        <p:spPr>
          <a:xfrm>
            <a:off x="906568" y="3850640"/>
            <a:ext cx="5880731" cy="194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anose="020B0604020202020204" charset="0"/>
              </a:rPr>
              <a:t>--Players can change the background color and the colors of game components, like the ball, walls, paddle, and bricks, to personalize their gaming experience.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anose="020B0604020202020204" charset="0"/>
              </a:rPr>
              <a:t>--Players can also switch to the preferable controls like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anose="020B0604020202020204" charset="0"/>
              </a:rPr>
              <a:t>the arrow keys or (a) &amp; (d) keys to move the paddle.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1CE5989F-EFDB-A8CB-A615-72E31D27E67A}"/>
              </a:ext>
            </a:extLst>
          </p:cNvPr>
          <p:cNvSpPr/>
          <p:nvPr/>
        </p:nvSpPr>
        <p:spPr>
          <a:xfrm>
            <a:off x="282919" y="5947073"/>
            <a:ext cx="396835" cy="396835"/>
          </a:xfrm>
          <a:prstGeom prst="roundRect">
            <a:avLst>
              <a:gd name="adj" fmla="val 8574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7F2BAAF-5978-5A66-B3F3-DBDF8ED95ACE}"/>
              </a:ext>
            </a:extLst>
          </p:cNvPr>
          <p:cNvSpPr/>
          <p:nvPr/>
        </p:nvSpPr>
        <p:spPr>
          <a:xfrm>
            <a:off x="906568" y="5947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 Semi Bold" pitchFamily="34" charset="0"/>
              </a:rPr>
              <a:t>Leaderboard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742D942-971B-0D9D-295C-7B7919732483}"/>
              </a:ext>
            </a:extLst>
          </p:cNvPr>
          <p:cNvSpPr/>
          <p:nvPr/>
        </p:nvSpPr>
        <p:spPr>
          <a:xfrm>
            <a:off x="906568" y="6394985"/>
            <a:ext cx="5784413" cy="1231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65000"/>
                  </a:schemeClr>
                </a:solidFill>
                <a:latin typeface="Tomorrow" pitchFamily="34" charset="0"/>
              </a:rPr>
              <a:t>Integrated a leaderboard that displays the top 10 scores ever made creating a sense of competition and achievement</a:t>
            </a:r>
            <a:r>
              <a:rPr lang="en-US" sz="1750" dirty="0">
                <a:solidFill>
                  <a:schemeClr val="bg1"/>
                </a:solidFill>
                <a:latin typeface="Tomorrow" pitchFamily="34" charset="0"/>
              </a:rPr>
              <a:t>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5D1CA4-D9BA-C8F7-1752-D22FA1566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92" y="492549"/>
            <a:ext cx="8408708" cy="71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46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77228"/>
            <a:ext cx="72425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ASCII ART USAGE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726168"/>
            <a:ext cx="30480" cy="5826085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58622" y="222123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78800" y="19813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6561" y="2066330"/>
            <a:ext cx="1547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1952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Empty Space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443401"/>
            <a:ext cx="501635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empty space is mapped by 0 which is further mapped as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</a:rPr>
              <a:t>char(32) ascii of empty space.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117896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78800" y="38779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9651" y="3962995"/>
            <a:ext cx="22860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Paddle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340066"/>
            <a:ext cx="49337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paddle is mapped by 1 which is further mapped as char(219) ascii of paddle shaped.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01456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78800" y="57746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0247" y="5859661"/>
            <a:ext cx="22729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Bricks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236732"/>
            <a:ext cx="493371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bricks is mapped by 2 which as further mapped as char(240) ascii of brick shape.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519CE6-2A43-04E2-77AF-F2FC2C060B20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1E43B383-1264-B8C2-C824-296E70093C7E}"/>
              </a:ext>
            </a:extLst>
          </p:cNvPr>
          <p:cNvSpPr/>
          <p:nvPr/>
        </p:nvSpPr>
        <p:spPr>
          <a:xfrm>
            <a:off x="7752826" y="1726168"/>
            <a:ext cx="30480" cy="5826085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FA6DEDD2-8281-5B65-216F-025E33667216}"/>
              </a:ext>
            </a:extLst>
          </p:cNvPr>
          <p:cNvSpPr/>
          <p:nvPr/>
        </p:nvSpPr>
        <p:spPr>
          <a:xfrm>
            <a:off x="7992737" y="222123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CCD88306-6E22-192D-B71A-E6A95E1E95F4}"/>
              </a:ext>
            </a:extLst>
          </p:cNvPr>
          <p:cNvSpPr/>
          <p:nvPr/>
        </p:nvSpPr>
        <p:spPr>
          <a:xfrm>
            <a:off x="7512915" y="19813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41346424-FC98-1C38-F56E-5BACD93FBA6A}"/>
              </a:ext>
            </a:extLst>
          </p:cNvPr>
          <p:cNvSpPr/>
          <p:nvPr/>
        </p:nvSpPr>
        <p:spPr>
          <a:xfrm>
            <a:off x="7690676" y="2066330"/>
            <a:ext cx="1547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</a:rPr>
              <a:t>4</a:t>
            </a:r>
            <a:endParaRPr lang="en-US" sz="265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65EF365E-6AE8-01DF-EBC4-2DFBE37EC0A9}"/>
              </a:ext>
            </a:extLst>
          </p:cNvPr>
          <p:cNvSpPr/>
          <p:nvPr/>
        </p:nvSpPr>
        <p:spPr>
          <a:xfrm>
            <a:off x="7992737" y="4117896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909E7680-258B-C0B9-07FD-91B71D36A9CA}"/>
              </a:ext>
            </a:extLst>
          </p:cNvPr>
          <p:cNvSpPr/>
          <p:nvPr/>
        </p:nvSpPr>
        <p:spPr>
          <a:xfrm>
            <a:off x="7512915" y="38779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7A23672-0545-F05A-B19B-F32B4254A611}"/>
              </a:ext>
            </a:extLst>
          </p:cNvPr>
          <p:cNvSpPr/>
          <p:nvPr/>
        </p:nvSpPr>
        <p:spPr>
          <a:xfrm>
            <a:off x="7653766" y="3962995"/>
            <a:ext cx="22860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</a:rPr>
              <a:t>5</a:t>
            </a:r>
            <a:endParaRPr lang="en-US" sz="26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5176B884-95F2-67C9-DD4C-E5953475680A}"/>
              </a:ext>
            </a:extLst>
          </p:cNvPr>
          <p:cNvSpPr/>
          <p:nvPr/>
        </p:nvSpPr>
        <p:spPr>
          <a:xfrm>
            <a:off x="7992737" y="601456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52057579-A2BB-21FA-C01D-392F7DDBDBB5}"/>
              </a:ext>
            </a:extLst>
          </p:cNvPr>
          <p:cNvSpPr/>
          <p:nvPr/>
        </p:nvSpPr>
        <p:spPr>
          <a:xfrm>
            <a:off x="7512915" y="57746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D875DDA-1450-D36E-70CD-4F3EBF00898E}"/>
              </a:ext>
            </a:extLst>
          </p:cNvPr>
          <p:cNvSpPr/>
          <p:nvPr/>
        </p:nvSpPr>
        <p:spPr>
          <a:xfrm>
            <a:off x="7654362" y="5859661"/>
            <a:ext cx="22729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</a:rPr>
              <a:t>6</a:t>
            </a:r>
            <a:endParaRPr lang="en-US" sz="26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D49A7678-7515-E3AB-C13C-C520B214800D}"/>
              </a:ext>
            </a:extLst>
          </p:cNvPr>
          <p:cNvSpPr/>
          <p:nvPr/>
        </p:nvSpPr>
        <p:spPr>
          <a:xfrm>
            <a:off x="8985123" y="19734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Ball</a:t>
            </a:r>
            <a:endParaRPr lang="en-US" sz="22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8711190-30FF-3302-D192-3A8A22C1F4EC}"/>
              </a:ext>
            </a:extLst>
          </p:cNvPr>
          <p:cNvSpPr/>
          <p:nvPr/>
        </p:nvSpPr>
        <p:spPr>
          <a:xfrm>
            <a:off x="9000851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Upper and side walls</a:t>
            </a:r>
            <a:endParaRPr lang="en-US" sz="22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684D9A1C-5EEC-2329-9F29-5796296477D7}"/>
              </a:ext>
            </a:extLst>
          </p:cNvPr>
          <p:cNvSpPr/>
          <p:nvPr/>
        </p:nvSpPr>
        <p:spPr>
          <a:xfrm>
            <a:off x="9062890" y="5780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Lower wall / Death wall</a:t>
            </a:r>
            <a:endParaRPr lang="en-US" sz="22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AF6A0E82-37BD-91FA-7C5E-C43B12EA24D9}"/>
              </a:ext>
            </a:extLst>
          </p:cNvPr>
          <p:cNvSpPr/>
          <p:nvPr/>
        </p:nvSpPr>
        <p:spPr>
          <a:xfrm>
            <a:off x="8985123" y="2443401"/>
            <a:ext cx="501635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Ball is mapped by 5 which is further mapped as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</a:rPr>
              <a:t>char(254) ascii of a ball shape.</a:t>
            </a:r>
            <a:endParaRPr lang="en-US" sz="175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CBA43BD8-D2A2-4C92-E554-A25209E36AF1}"/>
              </a:ext>
            </a:extLst>
          </p:cNvPr>
          <p:cNvSpPr/>
          <p:nvPr/>
        </p:nvSpPr>
        <p:spPr>
          <a:xfrm>
            <a:off x="9062890" y="4323160"/>
            <a:ext cx="501635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upper and side walls are  mapped by 7 &amp; 9 which is further mapped as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</a:rPr>
              <a:t>char(219) ascii of a wall shaped.</a:t>
            </a:r>
            <a:endParaRPr lang="en-US" sz="17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A2381AEA-5828-761A-1192-D1B8DF22C9EF}"/>
              </a:ext>
            </a:extLst>
          </p:cNvPr>
          <p:cNvSpPr/>
          <p:nvPr/>
        </p:nvSpPr>
        <p:spPr>
          <a:xfrm>
            <a:off x="9062890" y="6236732"/>
            <a:ext cx="501635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death wall is mapped by 8 which is further mapped as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</a:rPr>
              <a:t>char(233) ascii of a different wall shaped.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7CB9-3C64-CC7C-4EEC-1260106F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7A5EEF-4704-F789-90ED-B2AEF6573F8F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8FD07-2939-2308-0F31-2E5F462B3ABE}"/>
              </a:ext>
            </a:extLst>
          </p:cNvPr>
          <p:cNvSpPr txBox="1"/>
          <p:nvPr/>
        </p:nvSpPr>
        <p:spPr>
          <a:xfrm>
            <a:off x="367179" y="263303"/>
            <a:ext cx="73152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800" dirty="0">
                <a:solidFill>
                  <a:srgbClr val="EDEDE8"/>
                </a:solidFill>
                <a:latin typeface="Tomorrow Semi Bold" pitchFamily="34" charset="0"/>
              </a:rPr>
              <a:t>Libraries Used:</a:t>
            </a:r>
            <a:endParaRPr lang="en-US" sz="48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4F9B9F31-156F-F7FE-C5F9-9CDC567A9F70}"/>
              </a:ext>
            </a:extLst>
          </p:cNvPr>
          <p:cNvSpPr/>
          <p:nvPr/>
        </p:nvSpPr>
        <p:spPr>
          <a:xfrm>
            <a:off x="381000" y="1178720"/>
            <a:ext cx="2399907" cy="328754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sz="2600" dirty="0">
              <a:solidFill>
                <a:schemeClr val="bg1"/>
              </a:solidFill>
              <a:latin typeface="Tomorrow" panose="020B0604020202020204" charset="0"/>
            </a:endParaRPr>
          </a:p>
          <a:p>
            <a:endParaRPr lang="en-US" sz="2600" dirty="0">
              <a:solidFill>
                <a:schemeClr val="bg1"/>
              </a:solidFill>
              <a:latin typeface="Tomorrow" panose="020B0604020202020204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895A99F4-1C88-2BA2-A31C-872BB9D76197}"/>
              </a:ext>
            </a:extLst>
          </p:cNvPr>
          <p:cNvSpPr/>
          <p:nvPr/>
        </p:nvSpPr>
        <p:spPr>
          <a:xfrm>
            <a:off x="3195220" y="1209039"/>
            <a:ext cx="2399907" cy="328754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sz="2800" dirty="0">
              <a:solidFill>
                <a:schemeClr val="bg1"/>
              </a:solidFill>
              <a:latin typeface="Tomorrow" panose="020B0604020202020204" charset="0"/>
            </a:endParaRPr>
          </a:p>
          <a:p>
            <a:endParaRPr lang="en-US" sz="2800" dirty="0">
              <a:solidFill>
                <a:schemeClr val="bg1"/>
              </a:solidFill>
              <a:latin typeface="Tomorrow" panose="020B0604020202020204" charset="0"/>
              <a:sym typeface="Wingdings" panose="05000000000000000000" pitchFamily="2" charset="2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FABF2311-F137-1592-40FD-F243EEEFAD3E}"/>
              </a:ext>
            </a:extLst>
          </p:cNvPr>
          <p:cNvSpPr/>
          <p:nvPr/>
        </p:nvSpPr>
        <p:spPr>
          <a:xfrm>
            <a:off x="6009440" y="1209039"/>
            <a:ext cx="2399907" cy="328754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sz="3200" dirty="0">
              <a:solidFill>
                <a:schemeClr val="bg1"/>
              </a:solidFill>
              <a:latin typeface="Tomorrow" panose="020B0604020202020204" charset="0"/>
            </a:endParaRP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DD260117-0AEE-8E86-47DA-E3B6FF793FE8}"/>
              </a:ext>
            </a:extLst>
          </p:cNvPr>
          <p:cNvSpPr/>
          <p:nvPr/>
        </p:nvSpPr>
        <p:spPr>
          <a:xfrm>
            <a:off x="381000" y="5196208"/>
            <a:ext cx="5214127" cy="131213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sz="28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AFC4D90E-D1D7-6590-6056-732FE7D9F360}"/>
              </a:ext>
            </a:extLst>
          </p:cNvPr>
          <p:cNvSpPr/>
          <p:nvPr/>
        </p:nvSpPr>
        <p:spPr>
          <a:xfrm>
            <a:off x="357138" y="6794914"/>
            <a:ext cx="5237989" cy="131213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sz="2800" dirty="0">
              <a:solidFill>
                <a:schemeClr val="bg1"/>
              </a:solidFill>
              <a:latin typeface="Tomorrow" panose="020B0604020202020204" charset="0"/>
            </a:endParaRPr>
          </a:p>
          <a:p>
            <a:endParaRPr lang="en-US" sz="2800" dirty="0">
              <a:solidFill>
                <a:schemeClr val="bg1"/>
              </a:solidFill>
              <a:latin typeface="Tomorrow" panose="020B060402020202020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DB6C2B6-80DB-BBEF-4737-D42F37DDE0C8}"/>
              </a:ext>
            </a:extLst>
          </p:cNvPr>
          <p:cNvSpPr/>
          <p:nvPr/>
        </p:nvSpPr>
        <p:spPr>
          <a:xfrm>
            <a:off x="985701" y="1396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QUEUE</a:t>
            </a:r>
            <a:endParaRPr lang="en-US" sz="2200"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7B0FB910-5F46-DC7E-8ECF-85441E526EE5}"/>
              </a:ext>
            </a:extLst>
          </p:cNvPr>
          <p:cNvSpPr/>
          <p:nvPr/>
        </p:nvSpPr>
        <p:spPr>
          <a:xfrm>
            <a:off x="6009440" y="4850258"/>
            <a:ext cx="2399907" cy="3287547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sz="3200" dirty="0">
              <a:solidFill>
                <a:schemeClr val="bg1"/>
              </a:solidFill>
              <a:latin typeface="Tomorrow" panose="020B0604020202020204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92436F1D-FE2C-A525-3451-8AA4569D3B8D}"/>
              </a:ext>
            </a:extLst>
          </p:cNvPr>
          <p:cNvSpPr/>
          <p:nvPr/>
        </p:nvSpPr>
        <p:spPr>
          <a:xfrm>
            <a:off x="3559838" y="14151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WINDOWS.H</a:t>
            </a:r>
            <a:endParaRPr lang="en-US" sz="2200" dirty="0"/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26410F99-945C-C25E-7A25-684767892B5D}"/>
              </a:ext>
            </a:extLst>
          </p:cNvPr>
          <p:cNvSpPr/>
          <p:nvPr/>
        </p:nvSpPr>
        <p:spPr>
          <a:xfrm>
            <a:off x="6604697" y="1430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CONIO.H</a:t>
            </a:r>
            <a:endParaRPr lang="en-US" sz="22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16D555A1-5FF2-901F-3AE8-961924312113}"/>
              </a:ext>
            </a:extLst>
          </p:cNvPr>
          <p:cNvSpPr/>
          <p:nvPr/>
        </p:nvSpPr>
        <p:spPr>
          <a:xfrm>
            <a:off x="545383" y="5307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TIME.H</a:t>
            </a:r>
            <a:endParaRPr lang="en-US" sz="22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61EE9ABC-9FB0-E468-A86F-5C50141E7034}"/>
              </a:ext>
            </a:extLst>
          </p:cNvPr>
          <p:cNvSpPr/>
          <p:nvPr/>
        </p:nvSpPr>
        <p:spPr>
          <a:xfrm>
            <a:off x="548133" y="6932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LIMITS</a:t>
            </a:r>
            <a:endParaRPr lang="en-US" sz="22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2881B9C3-3AF7-1C19-A28F-823FCD4E0BE5}"/>
              </a:ext>
            </a:extLst>
          </p:cNvPr>
          <p:cNvSpPr/>
          <p:nvPr/>
        </p:nvSpPr>
        <p:spPr>
          <a:xfrm>
            <a:off x="6527080" y="51962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</a:rPr>
              <a:t>FSTREAM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89A138-DFB0-AD97-0868-C63F6D2F3D68}"/>
              </a:ext>
            </a:extLst>
          </p:cNvPr>
          <p:cNvSpPr/>
          <p:nvPr/>
        </p:nvSpPr>
        <p:spPr>
          <a:xfrm>
            <a:off x="461913" y="1870095"/>
            <a:ext cx="2215299" cy="247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</a:rPr>
              <a:t>Usage in 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</a:rPr>
              <a:t>priority queue 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</a:rPr>
              <a:t>for leaderboard 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</a:rPr>
              <a:t>integreation.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EFB463B1-3C91-5693-1518-2450450BBFF0}"/>
              </a:ext>
            </a:extLst>
          </p:cNvPr>
          <p:cNvSpPr/>
          <p:nvPr/>
        </p:nvSpPr>
        <p:spPr>
          <a:xfrm>
            <a:off x="3261675" y="1975627"/>
            <a:ext cx="2312438" cy="237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Redefining 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properties of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 console.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HideCursor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Defined x , y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coordinates</a:t>
            </a:r>
            <a:endParaRPr lang="en-US" sz="2400" dirty="0">
              <a:solidFill>
                <a:schemeClr val="bg1"/>
              </a:solidFill>
              <a:latin typeface="Tomorrow" panose="020B0604020202020204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089C536-86AA-A764-55A5-250603BE4640}"/>
              </a:ext>
            </a:extLst>
          </p:cNvPr>
          <p:cNvSpPr/>
          <p:nvPr/>
        </p:nvSpPr>
        <p:spPr>
          <a:xfrm>
            <a:off x="548133" y="5661394"/>
            <a:ext cx="4862067" cy="36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rgbClr val="FFFFFF"/>
                </a:solidFill>
                <a:latin typeface="Tomorrow" panose="020B0604020202020204" charset="0"/>
                <a:sym typeface="Wingdings" panose="05000000000000000000" pitchFamily="2" charset="2"/>
              </a:rPr>
              <a:t> Randomized brick generation</a:t>
            </a:r>
            <a:endParaRPr lang="en-US" sz="2400" dirty="0">
              <a:solidFill>
                <a:srgbClr val="FFFFFF"/>
              </a:solidFill>
              <a:latin typeface="Tomorrow" panose="020B0604020202020204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0CE337D7-0D80-7147-A596-A2829C27DB1E}"/>
              </a:ext>
            </a:extLst>
          </p:cNvPr>
          <p:cNvSpPr/>
          <p:nvPr/>
        </p:nvSpPr>
        <p:spPr>
          <a:xfrm>
            <a:off x="6089404" y="1937625"/>
            <a:ext cx="2225037" cy="2295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For the input</a:t>
            </a:r>
          </a:p>
          <a:p>
            <a:pPr>
              <a:lnSpc>
                <a:spcPts val="2750"/>
              </a:lnSpc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 for the paddle</a:t>
            </a:r>
            <a:endParaRPr lang="en-US" sz="2400" dirty="0">
              <a:solidFill>
                <a:schemeClr val="bg1"/>
              </a:solidFill>
              <a:latin typeface="Tomorrow" panose="020B0604020202020204" charset="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  <a:sym typeface="Wingdings" panose="05000000000000000000" pitchFamily="2" charset="2"/>
              </a:rPr>
              <a:t></a:t>
            </a: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</a:rPr>
              <a:t>Using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</a:rPr>
              <a:t> _</a:t>
            </a:r>
            <a:r>
              <a:rPr lang="en-US" sz="2200" dirty="0" err="1">
                <a:solidFill>
                  <a:srgbClr val="FFFFFF"/>
                </a:solidFill>
                <a:latin typeface="Tomorrow" panose="020B0604020202020204" charset="0"/>
              </a:rPr>
              <a:t>kbhit</a:t>
            </a: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</a:rPr>
              <a:t>() and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</a:rPr>
              <a:t>_</a:t>
            </a:r>
            <a:r>
              <a:rPr lang="en-US" sz="2200" dirty="0" err="1">
                <a:solidFill>
                  <a:srgbClr val="FFFFFF"/>
                </a:solidFill>
                <a:latin typeface="Tomorrow" panose="020B0604020202020204" charset="0"/>
              </a:rPr>
              <a:t>getch</a:t>
            </a: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</a:rPr>
              <a:t>()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" panose="020B0604020202020204" charset="0"/>
              </a:rPr>
              <a:t>functions.</a:t>
            </a: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2FBD7E1-3105-154B-FCC0-4F28A2871A45}"/>
              </a:ext>
            </a:extLst>
          </p:cNvPr>
          <p:cNvSpPr/>
          <p:nvPr/>
        </p:nvSpPr>
        <p:spPr>
          <a:xfrm>
            <a:off x="6089404" y="5841080"/>
            <a:ext cx="2319943" cy="215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Usage in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 saving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The scores in a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Txt file for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Leaderboard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Data.</a:t>
            </a:r>
            <a:endParaRPr lang="en-US" sz="22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98D48CA-FADC-2135-1193-FB465E1FD226}"/>
              </a:ext>
            </a:extLst>
          </p:cNvPr>
          <p:cNvSpPr/>
          <p:nvPr/>
        </p:nvSpPr>
        <p:spPr>
          <a:xfrm>
            <a:off x="528326" y="7440321"/>
            <a:ext cx="39388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omorrow" panose="020B0604020202020204" charset="0"/>
                <a:sym typeface="Wingdings" panose="05000000000000000000" pitchFamily="2" charset="2"/>
              </a:rPr>
              <a:t>For user input validation.</a:t>
            </a:r>
            <a:endParaRPr lang="en-US" sz="2200" dirty="0"/>
          </a:p>
        </p:txBody>
      </p:sp>
      <p:pic>
        <p:nvPicPr>
          <p:cNvPr id="22" name="Picture 21" descr="A colorful circle with white text&#10;&#10;Description automatically generated">
            <a:extLst>
              <a:ext uri="{FF2B5EF4-FFF2-40B4-BE49-F238E27FC236}">
                <a16:creationId xmlns:a16="http://schemas.microsoft.com/office/drawing/2014/main" id="{77079635-7A58-FF1D-D995-87729B1D4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000" y="710398"/>
            <a:ext cx="7058025" cy="757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98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9854-4AB5-0726-E491-5FE8EDFB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14192E-3448-3B60-236D-7F3BF579C73C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389E2-5432-3B74-3417-FAD21F4A194B}"/>
              </a:ext>
            </a:extLst>
          </p:cNvPr>
          <p:cNvSpPr txBox="1"/>
          <p:nvPr/>
        </p:nvSpPr>
        <p:spPr>
          <a:xfrm>
            <a:off x="367178" y="263303"/>
            <a:ext cx="8899369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800" dirty="0">
                <a:solidFill>
                  <a:srgbClr val="EDEDE8"/>
                </a:solidFill>
                <a:latin typeface="Tomorrow Semi Bold" pitchFamily="34" charset="0"/>
              </a:rPr>
              <a:t>How the paddle moves ?</a:t>
            </a:r>
            <a:endParaRPr lang="en-US" sz="4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DB201-80EB-E4E0-BB23-3F6522C760F5}"/>
              </a:ext>
            </a:extLst>
          </p:cNvPr>
          <p:cNvSpPr txBox="1"/>
          <p:nvPr/>
        </p:nvSpPr>
        <p:spPr>
          <a:xfrm>
            <a:off x="318658" y="1609297"/>
            <a:ext cx="7664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At first the direction of the paddle is </a:t>
            </a:r>
          </a:p>
          <a:p>
            <a:r>
              <a:rPr lang="en-US" sz="2000" dirty="0" err="1">
                <a:solidFill>
                  <a:srgbClr val="FFFFFF"/>
                </a:solidFill>
                <a:latin typeface="Tomorrow" panose="020B0604020202020204" charset="0"/>
              </a:rPr>
              <a:t>paddle.x</a:t>
            </a:r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 = screenWidth / 2 - 5;</a:t>
            </a:r>
          </a:p>
          <a:p>
            <a:r>
              <a:rPr lang="en-US" sz="2000" dirty="0" err="1">
                <a:solidFill>
                  <a:srgbClr val="FFFFFF"/>
                </a:solidFill>
                <a:latin typeface="Tomorrow" panose="020B0604020202020204" charset="0"/>
              </a:rPr>
              <a:t>paddle.y</a:t>
            </a:r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 = screenHeight - screenHeight / 7 - 1;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resulting in a centered paddle position.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B6B44-CF9D-FBA7-733B-9E85F5A6E265}"/>
              </a:ext>
            </a:extLst>
          </p:cNvPr>
          <p:cNvSpPr txBox="1"/>
          <p:nvPr/>
        </p:nvSpPr>
        <p:spPr>
          <a:xfrm>
            <a:off x="367178" y="3101520"/>
            <a:ext cx="30736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L(left) 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R(right)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S(Anything but L or R)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75EB5A-9CDF-3BE8-C141-5084FCA5D689}"/>
              </a:ext>
            </a:extLst>
          </p:cNvPr>
          <p:cNvSpPr txBox="1"/>
          <p:nvPr/>
        </p:nvSpPr>
        <p:spPr>
          <a:xfrm>
            <a:off x="318657" y="4791693"/>
            <a:ext cx="7664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So , if user press left arrow then </a:t>
            </a:r>
            <a:r>
              <a:rPr lang="en-US" sz="2000" dirty="0" err="1">
                <a:solidFill>
                  <a:srgbClr val="FFFFFF"/>
                </a:solidFill>
                <a:latin typeface="Tomorrow" panose="020B0604020202020204" charset="0"/>
              </a:rPr>
              <a:t>paddle.dir</a:t>
            </a:r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 is set as ’ L‘ and the 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Paddle will move in the left direction on the horizontal axis by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x=x-speed and vise versa.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7BA3C4-BC2D-56DF-D21C-C1A8E49D8634}"/>
              </a:ext>
            </a:extLst>
          </p:cNvPr>
          <p:cNvSpPr txBox="1"/>
          <p:nvPr/>
        </p:nvSpPr>
        <p:spPr>
          <a:xfrm>
            <a:off x="318656" y="6112471"/>
            <a:ext cx="7664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And whenever the ball collides with the death wall the </a:t>
            </a:r>
            <a:r>
              <a:rPr lang="en-US" sz="2000" dirty="0" err="1">
                <a:solidFill>
                  <a:srgbClr val="FFFFFF"/>
                </a:solidFill>
                <a:latin typeface="Tomorrow" panose="020B0604020202020204" charset="0"/>
              </a:rPr>
              <a:t>paddle.dir</a:t>
            </a:r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 is set to be ‘S’ means to reset its and back to a centered paddle.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2D3F7-4DAE-C12B-2E8E-93406E21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4754" y="994478"/>
            <a:ext cx="34385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59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513E-411F-32CC-8F1E-C5D481D9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422B80-AB78-897A-4DDC-E7A2E588DA0D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C7D02-B9A4-2A71-EC12-76EE4545BE1B}"/>
              </a:ext>
            </a:extLst>
          </p:cNvPr>
          <p:cNvSpPr txBox="1"/>
          <p:nvPr/>
        </p:nvSpPr>
        <p:spPr>
          <a:xfrm>
            <a:off x="367178" y="263303"/>
            <a:ext cx="8899369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800" dirty="0">
                <a:solidFill>
                  <a:srgbClr val="EDEDE8"/>
                </a:solidFill>
                <a:latin typeface="Tomorrow Semi Bold" pitchFamily="34" charset="0"/>
              </a:rPr>
              <a:t>How the ball actually moves ?</a:t>
            </a:r>
            <a:endParaRPr lang="en-US" sz="4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1A9715-D4AB-F656-B2A5-ED28CB1ACF74}"/>
              </a:ext>
            </a:extLst>
          </p:cNvPr>
          <p:cNvSpPr txBox="1"/>
          <p:nvPr/>
        </p:nvSpPr>
        <p:spPr>
          <a:xfrm>
            <a:off x="367178" y="1621410"/>
            <a:ext cx="7664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This is a 2d-array of [screen width] [screen height]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5B3343-B016-115E-3C33-AFF5FD2ECFE3}"/>
              </a:ext>
            </a:extLst>
          </p:cNvPr>
          <p:cNvSpPr txBox="1"/>
          <p:nvPr/>
        </p:nvSpPr>
        <p:spPr>
          <a:xfrm>
            <a:off x="367178" y="2169039"/>
            <a:ext cx="7664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At first the direction of the ball is rand() % 4 which gives a random number between 0-3.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F3169E-5428-FA1B-616D-C3D8C76B904D}"/>
              </a:ext>
            </a:extLst>
          </p:cNvPr>
          <p:cNvSpPr txBox="1"/>
          <p:nvPr/>
        </p:nvSpPr>
        <p:spPr>
          <a:xfrm>
            <a:off x="367178" y="3101520"/>
            <a:ext cx="23006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0(up-left) 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1(up-right)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2(down-left)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3(down-right)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E22605-B304-D048-43D6-E3A08F3F4E08}"/>
              </a:ext>
            </a:extLst>
          </p:cNvPr>
          <p:cNvSpPr txBox="1"/>
          <p:nvPr/>
        </p:nvSpPr>
        <p:spPr>
          <a:xfrm>
            <a:off x="318657" y="4791693"/>
            <a:ext cx="76644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So , if doing in that direction doesnot resulting in a collision with the wall or the bricks or the paddle the ball will go in that direction by changing its x &amp; y coordinates according to its speed and then the ball will appear in that indexes of the 2d array[x][y].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6F8F79-4E4B-BB0C-123C-F18A8C8A9B08}"/>
              </a:ext>
            </a:extLst>
          </p:cNvPr>
          <p:cNvSpPr txBox="1"/>
          <p:nvPr/>
        </p:nvSpPr>
        <p:spPr>
          <a:xfrm>
            <a:off x="318658" y="6514123"/>
            <a:ext cx="7664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And if going to that particular  indexes of 2d-array resulting in a collision then the ball will bounce back depending on the direction of the ball at the start point.</a:t>
            </a:r>
            <a:endParaRPr lang="en-US" dirty="0">
              <a:solidFill>
                <a:srgbClr val="FFFFFF"/>
              </a:solidFill>
              <a:latin typeface="Tomorrow" panose="020B060402020202020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63CDB95-6E18-3723-A671-E93B9405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084" y="909637"/>
            <a:ext cx="34004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02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F6F8-D2FC-9852-82CB-E49D4E92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9F0F22-FA54-9415-E13F-E35B2317F305}"/>
              </a:ext>
            </a:extLst>
          </p:cNvPr>
          <p:cNvSpPr/>
          <p:nvPr/>
        </p:nvSpPr>
        <p:spPr>
          <a:xfrm>
            <a:off x="12811026" y="7626284"/>
            <a:ext cx="1725106" cy="480767"/>
          </a:xfrm>
          <a:prstGeom prst="rect">
            <a:avLst/>
          </a:prstGeom>
          <a:solidFill>
            <a:srgbClr val="1D1D1B"/>
          </a:solidFill>
          <a:ln>
            <a:solidFill>
              <a:srgbClr val="1D1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EA79C-1048-A113-0F99-C0EF03C12398}"/>
              </a:ext>
            </a:extLst>
          </p:cNvPr>
          <p:cNvSpPr txBox="1"/>
          <p:nvPr/>
        </p:nvSpPr>
        <p:spPr>
          <a:xfrm>
            <a:off x="216349" y="159608"/>
            <a:ext cx="8899369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800" dirty="0">
                <a:solidFill>
                  <a:srgbClr val="EDEDE8"/>
                </a:solidFill>
                <a:latin typeface="Tomorrow Semi Bold" pitchFamily="34" charset="0"/>
              </a:rPr>
              <a:t>How does collision happens and bricks broken ?</a:t>
            </a:r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4553F-A772-908E-8834-03B280C79AFB}"/>
              </a:ext>
            </a:extLst>
          </p:cNvPr>
          <p:cNvSpPr txBox="1"/>
          <p:nvPr/>
        </p:nvSpPr>
        <p:spPr>
          <a:xfrm>
            <a:off x="216349" y="2029640"/>
            <a:ext cx="7664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Simply checks if array[x][y] equal to 7&amp;9 or char[219] (ascii code for upper and side walls) then return TRUE means going to these coordinates resulting in a collision.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CB957-4DAC-00D7-1992-98CF32FB3EB5}"/>
              </a:ext>
            </a:extLst>
          </p:cNvPr>
          <p:cNvSpPr txBox="1"/>
          <p:nvPr/>
        </p:nvSpPr>
        <p:spPr>
          <a:xfrm>
            <a:off x="216348" y="3183977"/>
            <a:ext cx="7664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OR if array[x][y] equal to 2 or char[240] (ascii code for bricks)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If TRUE array[x][y] = ‘    ’; and increment the score. </a:t>
            </a:r>
          </a:p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 then return TRUE means going to these coordinates resulting in a collision.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BC0DE-84FD-098C-5DB6-7A4AFB8FCDF3}"/>
              </a:ext>
            </a:extLst>
          </p:cNvPr>
          <p:cNvSpPr txBox="1"/>
          <p:nvPr/>
        </p:nvSpPr>
        <p:spPr>
          <a:xfrm>
            <a:off x="216349" y="4764984"/>
            <a:ext cx="7664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OR if array[x][y] equal to 8 or char[233] (ascii code for lower or death wall) then simply decrement the life and reset the paddle position.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49F7A-52FC-6454-88D2-C82D4051FF2F}"/>
              </a:ext>
            </a:extLst>
          </p:cNvPr>
          <p:cNvSpPr txBox="1"/>
          <p:nvPr/>
        </p:nvSpPr>
        <p:spPr>
          <a:xfrm>
            <a:off x="216347" y="6064213"/>
            <a:ext cx="7664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omorrow" panose="020B0604020202020204" charset="0"/>
              </a:rPr>
              <a:t>If the collision function returns TRUE means collision happened then just call the bounce function with the same coordinates as before to efficiently manage the physics.</a:t>
            </a:r>
          </a:p>
        </p:txBody>
      </p:sp>
      <p:pic>
        <p:nvPicPr>
          <p:cNvPr id="7" name="Picture 6" descr="A diagram of a collision detection&#10;&#10;Description automatically generated">
            <a:extLst>
              <a:ext uri="{FF2B5EF4-FFF2-40B4-BE49-F238E27FC236}">
                <a16:creationId xmlns:a16="http://schemas.microsoft.com/office/drawing/2014/main" id="{1949E5A9-92E9-A7B0-2C20-48F87062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059" y="0"/>
            <a:ext cx="2710698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6922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934</Words>
  <Application>Microsoft Office PowerPoint</Application>
  <PresentationFormat>Custom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Tomorrow Semi Bold</vt:lpstr>
      <vt:lpstr>Arial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GOAT KRATOS</cp:lastModifiedBy>
  <cp:revision>9</cp:revision>
  <dcterms:created xsi:type="dcterms:W3CDTF">2025-01-10T10:15:34Z</dcterms:created>
  <dcterms:modified xsi:type="dcterms:W3CDTF">2025-01-13T08:36:28Z</dcterms:modified>
</cp:coreProperties>
</file>